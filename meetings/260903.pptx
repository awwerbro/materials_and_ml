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72" r:id="rId1"/>
  </p:sldMasterIdLst>
  <p:notesMasterIdLst>
    <p:notesMasterId r:id="rId10"/>
  </p:notesMasterIdLst>
  <p:sldIdLst>
    <p:sldId id="533" r:id="rId2"/>
    <p:sldId id="683" r:id="rId3"/>
    <p:sldId id="684" r:id="rId4"/>
    <p:sldId id="686" r:id="rId5"/>
    <p:sldId id="685" r:id="rId6"/>
    <p:sldId id="689" r:id="rId7"/>
    <p:sldId id="687" r:id="rId8"/>
    <p:sldId id="688" r:id="rId9"/>
  </p:sldIdLst>
  <p:sldSz cx="9144000" cy="6858000" type="screen4x3"/>
  <p:notesSz cx="6858000" cy="9144000"/>
  <p:embeddedFontLst>
    <p:embeddedFont>
      <p:font typeface="Source Sans 3" panose="020B0303030403020204" pitchFamily="34" charset="0"/>
      <p:regular r:id="rId11"/>
      <p:bold r:id="rId12"/>
      <p:italic r:id="rId13"/>
      <p:boldItalic r:id="rId14"/>
    </p:embeddedFont>
    <p:embeddedFont>
      <p:font typeface="Source Sans Pro Light" panose="020B0403030403020204" pitchFamily="34" charset="0"/>
      <p:regular r:id="rId15"/>
      <p: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64C8"/>
    <a:srgbClr val="777777"/>
    <a:srgbClr val="8C1515"/>
    <a:srgbClr val="FFFA3F"/>
    <a:srgbClr val="848484"/>
    <a:srgbClr val="92D050"/>
    <a:srgbClr val="767171"/>
    <a:srgbClr val="FF1919"/>
    <a:srgbClr val="4D4F5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61" autoAdjust="0"/>
    <p:restoredTop sz="95223" autoAdjust="0"/>
  </p:normalViewPr>
  <p:slideViewPr>
    <p:cSldViewPr snapToGrid="0">
      <p:cViewPr varScale="1">
        <p:scale>
          <a:sx n="100" d="100"/>
          <a:sy n="100" d="100"/>
        </p:scale>
        <p:origin x="737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5E5F2-865D-474E-89EB-6A5DEE560B71}" type="datetimeFigureOut">
              <a:rPr lang="en-US" smtClean="0"/>
              <a:t>03/09/26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0705B-2D03-4785-B2C1-505A1AAB1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29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09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8302C-A5BE-42FE-09CA-40D6DE5F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171C7-57A1-2101-1661-1ACE3756A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9B855-2A8F-3E14-5A9E-ED7262488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03B26-3E06-231F-CB5A-9F8F18CDF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985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1815D-5704-4FB0-01A5-8C9E4A9CB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E78FF-5805-7D86-11FF-585879C38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9872F-AA4C-EECC-8EE0-36AF9CB82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34289-9438-7485-57E7-CEFDA42F4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77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80DBF-A326-642A-916F-DE303D02F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49F4D-EAF4-CAE6-BB4A-5A0407D9E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48314-D5EE-7B16-4421-4E7CFF02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A3C7A-7C89-8E7A-BCAD-6F9C894F0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68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A8F09-3E2A-CE13-3878-F4D2BB850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8DE30-8BE6-BC21-B519-E94ADBDE4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B9591-9E6C-9332-DFA7-C5B4647A4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EA6E8-D2D8-41ED-DF99-E9327D13A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34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8FE3F-E819-70CF-27D6-348E2CE2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6FB27-5E4B-A088-9316-C9D4F48EC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2E7F3-A02D-0D1B-CD44-E17B22C45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586DC-045E-7DD3-4AB7-162EDE9F4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90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C2BDA-29E0-4069-4495-150A13E08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3F237-4669-82B0-C257-ABD75AF12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53F83-2EC3-6117-13F9-4F75734D2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591BF-A9EB-6777-1F8B-940B7C876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46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E41CE-16F8-F421-3E7F-EF87620F2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A4554-E80F-47DE-EA73-645757BB3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D4E18-7F7A-5142-34EE-D1519761D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EA5D-C70C-4E61-077A-FC88D6DD4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78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03/09/26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669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03/09/26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803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03/09/26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06689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03/09/26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90589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03/09/26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47600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03/09/26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40494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03/09/26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61931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03/09/26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97934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03/09/26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43241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03/09/26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23093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03/09/26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74092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03/09/26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8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34DCF-4EC8-4535-B83B-29419115A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02669"/>
            <a:ext cx="7886700" cy="1452661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Self-driving labs: sense or nonsense?</a:t>
            </a:r>
            <a:endParaRPr lang="en-US" sz="1600" dirty="0">
              <a:latin typeface="Source Sans 3" panose="020B0303030403020204" pitchFamily="34" charset="0"/>
              <a:ea typeface="Source Sans Pro"/>
              <a:cs typeface="Calibri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8E1049-2B8F-4CDA-9154-0EB219806E56}"/>
              </a:ext>
            </a:extLst>
          </p:cNvPr>
          <p:cNvSpPr txBox="1"/>
          <p:nvPr/>
        </p:nvSpPr>
        <p:spPr>
          <a:xfrm>
            <a:off x="7221679" y="6393775"/>
            <a:ext cx="192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ource Sans Pro Light" panose="020B0403030403020204" pitchFamily="34" charset="0"/>
              </a:rPr>
              <a:t>September 3,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8C7F0C-3989-F071-08D6-8CABC5FD4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77863"/>
            <a:ext cx="1349886" cy="108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06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FBD2E-0C69-7E12-451B-6D31C2DB7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15869-1735-64DE-08CC-C710E010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1E82DE7-CA4A-F11D-522C-B13EACA433B2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Comprehensive review paper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179503-4D09-F4B1-116D-3F9153ECF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351128"/>
            <a:ext cx="8439912" cy="52965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Extensive</a:t>
            </a: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 discussion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Today: not even attempting a summary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4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Use this paper as a starting point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Long history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Laboratory automation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Design of experiments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High throughput experimentation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Now: cheap hardware, powerful computing possible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E9B53E-3AD6-CA2B-C2F3-2EE06453E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028" y="1076648"/>
            <a:ext cx="4164633" cy="2907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2222AB-9181-BCB5-B150-22956A68B6B2}"/>
              </a:ext>
            </a:extLst>
          </p:cNvPr>
          <p:cNvSpPr txBox="1"/>
          <p:nvPr/>
        </p:nvSpPr>
        <p:spPr>
          <a:xfrm>
            <a:off x="5660136" y="4017544"/>
            <a:ext cx="29443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https://doi.org/10.1021/acs.chemrev.4c00055</a:t>
            </a: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35250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1D8D9-1F7C-14DD-37D7-DE611A3E3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3C0C5-3194-F852-B53C-536CC0B1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04CAA93-988C-B31C-99D5-52DE0FB19484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Key idea: 2 axes for self-driving-readiness</a:t>
            </a:r>
          </a:p>
        </p:txBody>
      </p:sp>
      <p:pic>
        <p:nvPicPr>
          <p:cNvPr id="5" name="Picture 4" descr="Figure 1 Refer to the image caption for details.">
            <a:extLst>
              <a:ext uri="{FF2B5EF4-FFF2-40B4-BE49-F238E27FC236}">
                <a16:creationId xmlns:a16="http://schemas.microsoft.com/office/drawing/2014/main" id="{0E9EFF16-AD7A-8925-62E0-2C708FB34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01024"/>
            <a:ext cx="6858000" cy="425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81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E38BF-C4E9-12F2-9427-BFF1FE356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FAA03-C159-26FF-EE26-EEACB0C7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4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13F213A-9A5F-B7A8-7C1E-5BA3AC2BD9A7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Key idea: 2 axes for self-driving-readiness</a:t>
            </a:r>
          </a:p>
        </p:txBody>
      </p:sp>
      <p:pic>
        <p:nvPicPr>
          <p:cNvPr id="5" name="Picture 4" descr="Figure 1 Refer to the image caption for details.">
            <a:extLst>
              <a:ext uri="{FF2B5EF4-FFF2-40B4-BE49-F238E27FC236}">
                <a16:creationId xmlns:a16="http://schemas.microsoft.com/office/drawing/2014/main" id="{753CCAA4-276A-A762-6317-A152A1E47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831" y="1502827"/>
            <a:ext cx="4160519" cy="2581944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DD847A3-79B2-2E4A-F77E-D684D6023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351128"/>
            <a:ext cx="3657600" cy="36232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Software axis again lumps 2 ideas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Experiment selection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Search space definition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4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2621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7C23D-0642-9D9D-B816-DBE18C9C0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8A374-A803-8DBE-293C-C214F572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5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B5BCF6F-94AE-3F4F-C707-CE7E5D07DB07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Closing the loop as a milestone (level 3?)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E708C00-9B32-573A-3E64-4225B4D4E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32" y="1351128"/>
            <a:ext cx="7863018" cy="5043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Repeatedly executing an experiment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Different conditions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Without human intervention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It is not known beforehand which experiments will be executed next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Mostly software decisions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Choice of hyperparameters is often overlooked!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4CFA6-4472-5646-1D79-7205D7DC510D}"/>
              </a:ext>
            </a:extLst>
          </p:cNvPr>
          <p:cNvSpPr txBox="1"/>
          <p:nvPr/>
        </p:nvSpPr>
        <p:spPr>
          <a:xfrm>
            <a:off x="1529332" y="4587866"/>
            <a:ext cx="282549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Software</a:t>
            </a:r>
          </a:p>
          <a:p>
            <a:r>
              <a:rPr lang="en-US" sz="14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Consider data</a:t>
            </a:r>
          </a:p>
          <a:p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Decide on next experiment</a:t>
            </a:r>
            <a:endParaRPr lang="en-US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10289-31F5-B8EB-8570-2FD80A869F3B}"/>
              </a:ext>
            </a:extLst>
          </p:cNvPr>
          <p:cNvSpPr txBox="1"/>
          <p:nvPr/>
        </p:nvSpPr>
        <p:spPr>
          <a:xfrm>
            <a:off x="5525262" y="4587866"/>
            <a:ext cx="28254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Hardware</a:t>
            </a:r>
          </a:p>
          <a:p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Carry out experiment</a:t>
            </a:r>
            <a:endParaRPr lang="en-US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68EE38D-C81A-1450-1A51-2D60CDA69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355" y="4051467"/>
            <a:ext cx="1849162" cy="53639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BF19A6E-48DD-369C-DCBC-2BD68CD78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438355" y="5493036"/>
            <a:ext cx="1849162" cy="53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2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99C8D-F894-CC08-DAE3-B4B7EAF9B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AA730-DDAA-599D-4C23-6893C684F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6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92E5F14-7F60-8D75-0E1F-D007A66D01D1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Several use cases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4BBACE2-EDA8-61B9-C6B2-414A35B00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51128"/>
            <a:ext cx="3480756" cy="37420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Analytical chemistry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4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Drug Discovery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Structural materials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Optoelectronics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Energy Storage materials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22C522-0135-8638-03EE-0208DBA9EC25}"/>
              </a:ext>
            </a:extLst>
          </p:cNvPr>
          <p:cNvSpPr txBox="1"/>
          <p:nvPr/>
        </p:nvSpPr>
        <p:spPr>
          <a:xfrm>
            <a:off x="5010914" y="2242004"/>
            <a:ext cx="33375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Optimize “yield”/property</a:t>
            </a:r>
          </a:p>
          <a:p>
            <a:endParaRPr lang="en-US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r>
              <a:rPr lang="en-US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Reaction discovery</a:t>
            </a:r>
          </a:p>
          <a:p>
            <a:endParaRPr lang="en-US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r>
              <a:rPr lang="en-US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Multi-objective optimization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D6AF65-CD4F-806D-C673-964F985D7307}"/>
              </a:ext>
            </a:extLst>
          </p:cNvPr>
          <p:cNvCxnSpPr>
            <a:cxnSpLocks/>
          </p:cNvCxnSpPr>
          <p:nvPr/>
        </p:nvCxnSpPr>
        <p:spPr>
          <a:xfrm>
            <a:off x="4270248" y="1351128"/>
            <a:ext cx="0" cy="365760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417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E85CD-6626-1028-7763-2154024A0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6D49C-838C-314A-FCD8-47E026A17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7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050C2E0-91BE-4B63-F25F-2CC27F80F65A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Summary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A06AD08-3050-F1C5-7337-6ED5FAC01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32" y="1351128"/>
            <a:ext cx="7863018" cy="5043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2 axes for a self-driving lab: Hardware and software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“Closing the loop” as a milestone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Different fields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92931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170F5-65CA-0264-C82F-CE03901ED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33A7E-D73C-08F8-D388-082D1C50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8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DFF9BEC-E438-5D38-881A-CBC508BBDB6D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Discussion points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C65EC7-90DF-3BCE-9C40-A09773FD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32" y="1351128"/>
            <a:ext cx="7863018" cy="5043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What is the goal of research?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Optimization versus discovery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Who sets these goals? (computer, researcher, company, funding agency…)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800" b="1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What are bottlenecks in your research?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Synthesis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Characterization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Thinking (?)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4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Is it easier to build an SDL in some fields?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If yes, how do you describe/define these fields</a:t>
            </a:r>
          </a:p>
        </p:txBody>
      </p:sp>
    </p:spTree>
    <p:extLst>
      <p:ext uri="{BB962C8B-B14F-4D97-AF65-F5344CB8AC3E}">
        <p14:creationId xmlns:p14="http://schemas.microsoft.com/office/powerpoint/2010/main" val="4258454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re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8C151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19827</TotalTime>
  <Words>255</Words>
  <Application>Microsoft Office PowerPoint</Application>
  <PresentationFormat>On-screen Show (4:3)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Source Sans 3</vt:lpstr>
      <vt:lpstr>Arial</vt:lpstr>
      <vt:lpstr>Source Sans Pro Light</vt:lpstr>
      <vt:lpstr>Calibri</vt:lpstr>
      <vt:lpstr>Calibri Light</vt:lpstr>
      <vt:lpstr>Office Theme</vt:lpstr>
      <vt:lpstr>Self-driving labs: sense or nonsense?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Andreas</dc:creator>
  <cp:lastModifiedBy>Andreas Werbrouck</cp:lastModifiedBy>
  <cp:revision>411</cp:revision>
  <dcterms:created xsi:type="dcterms:W3CDTF">2021-10-06T19:50:10Z</dcterms:created>
  <dcterms:modified xsi:type="dcterms:W3CDTF">2026-09-03T11:56:29Z</dcterms:modified>
</cp:coreProperties>
</file>