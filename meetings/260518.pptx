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72" r:id="rId1"/>
  </p:sldMasterIdLst>
  <p:notesMasterIdLst>
    <p:notesMasterId r:id="rId21"/>
  </p:notesMasterIdLst>
  <p:sldIdLst>
    <p:sldId id="533" r:id="rId2"/>
    <p:sldId id="683" r:id="rId3"/>
    <p:sldId id="684" r:id="rId4"/>
    <p:sldId id="685" r:id="rId5"/>
    <p:sldId id="693" r:id="rId6"/>
    <p:sldId id="691" r:id="rId7"/>
    <p:sldId id="687" r:id="rId8"/>
    <p:sldId id="692" r:id="rId9"/>
    <p:sldId id="696" r:id="rId10"/>
    <p:sldId id="689" r:id="rId11"/>
    <p:sldId id="697" r:id="rId12"/>
    <p:sldId id="694" r:id="rId13"/>
    <p:sldId id="688" r:id="rId14"/>
    <p:sldId id="698" r:id="rId15"/>
    <p:sldId id="699" r:id="rId16"/>
    <p:sldId id="701" r:id="rId17"/>
    <p:sldId id="702" r:id="rId18"/>
    <p:sldId id="700" r:id="rId19"/>
    <p:sldId id="695" r:id="rId20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Source Sans 3" panose="020B0303030403020204" pitchFamily="34" charset="0"/>
      <p:regular r:id="rId26"/>
      <p:bold r:id="rId27"/>
      <p:italic r:id="rId28"/>
      <p:boldItalic r:id="rId29"/>
    </p:embeddedFont>
    <p:embeddedFont>
      <p:font typeface="Source Sans Pro Light" panose="020B0403030403020204" pitchFamily="34" charset="0"/>
      <p:regular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4C8"/>
    <a:srgbClr val="777777"/>
    <a:srgbClr val="8C1515"/>
    <a:srgbClr val="FFFA3F"/>
    <a:srgbClr val="848484"/>
    <a:srgbClr val="92D050"/>
    <a:srgbClr val="767171"/>
    <a:srgbClr val="FF1919"/>
    <a:srgbClr val="4D4F5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61" autoAdjust="0"/>
    <p:restoredTop sz="95223" autoAdjust="0"/>
  </p:normalViewPr>
  <p:slideViewPr>
    <p:cSldViewPr snapToGrid="0">
      <p:cViewPr varScale="1">
        <p:scale>
          <a:sx n="105" d="100"/>
          <a:sy n="105" d="100"/>
        </p:scale>
        <p:origin x="139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5E5F2-865D-474E-89EB-6A5DEE560B71}" type="datetimeFigureOut">
              <a:rPr lang="en-US" smtClean="0"/>
              <a:t>18/05/26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705B-2D03-4785-B2C1-505A1AAB1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2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09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302C-A5BE-42FE-09CA-40D6DE5F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171C7-57A1-2101-1661-1ACE3756A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9B855-2A8F-3E14-5A9E-ED7262488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03B26-3E06-231F-CB5A-9F8F18CDF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8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1815D-5704-4FB0-01A5-8C9E4A9C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E78FF-5805-7D86-11FF-585879C3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9872F-AA4C-EECC-8EE0-36AF9CB82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34289-9438-7485-57E7-CEFDA42F4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7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BE9D9-0DD7-6EF6-26C5-FEA3ECA6C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25BF8-8EAA-A9D3-D844-D58CE9330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70A80-2A7E-FA96-9AA4-9BA0FBD9E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290FB-4941-0E5A-B17A-3FAD9AAB2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31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489A-9445-B3BD-5A7D-C33AC29F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8C6DD-1431-FC09-1196-40546FB90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253C-8610-F856-15B9-CACE925A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08AA5-B815-215F-128E-64352FE61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09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C289-7C71-44A3-155E-C1700EA3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9695-7B0B-C051-395A-3D19D67CB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A6C60-3DD0-4E55-508C-1E66608EB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E8140-1ED8-8A07-0DDD-204CC3B23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00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794E-1A19-3ADE-62D4-C2623933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E3FF4-2C11-2AA6-4BC4-23CDFD4CE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D742D-75FC-BC1E-0AD6-0E6097B65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3B3FA-0E6A-8352-6759-DE7E6ED22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16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98CD-13E4-C065-11EB-74D9F225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96A32-87B6-22EE-99CC-A2FE2681D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80A2C-132B-B4F5-D7D3-2F8A0FA7C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6E2F9-652F-2753-D4C3-B21469EC1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79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8157-9453-9F2D-9904-2010B753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EE31E-8F77-18B8-E5F8-90CD8ABB3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E48A1-4D4E-F9E4-3347-5B8D452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0ABED-D523-0ACB-46FA-6519935E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2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DAC6-071B-F090-C99A-CBEE0962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657B9-CF0C-CA63-B04F-C72372420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5EB3-AFDE-45B5-49A9-DB995A022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22830-960A-D021-66E2-3797023BF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3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E550-3D36-F7BE-B60B-F31FDAFC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8BBA7-BAA8-18A5-2495-99E78CE8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08B05-A1D5-4106-334C-1F6CA25BD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BD744-CDBB-3DCF-6481-9861355A3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6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9D40-2B0A-608E-1148-6244C665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D8DBF-3737-CC99-401C-29CD9F4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5D7D7-926D-7EC7-0407-C2E3E0271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BB1D3-1185-6829-4928-00FC8557E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33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BEBED-3014-84AE-C5EF-EB26E30B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A1D72-C95D-C55B-8AC3-04E38AC2F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1F5B5-D819-6217-5C50-3F3BD9382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2D971-4064-C815-5D57-A1FC70A33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06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8C36-BA90-E6F5-AB49-272B3D5D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C82F3-DBA8-624D-6599-F2D4AAC45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A65E4-DEA9-5E29-90E8-785F20692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DA29-6542-0177-54FE-863203869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DFCA-7311-9953-5AF0-950C06A9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FA41D-7BEA-E0F2-E816-A54E7925A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7399A-D94F-0A55-BA07-E1D749092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33748-A99A-DBE7-C7B6-FA55F1B86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1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7D26-16FF-F7CC-25C1-F2A29820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0D67E-B628-3475-D44D-EA4A3E537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CC2E7-4CCC-63B6-8B49-A476782FA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123AC-D99B-CA6A-1986-18D28E81B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61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C4C2-8310-1E6B-C2AD-B4EB8216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ABC7C-2617-A460-7F71-32A3A30F2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4C3F7-8D44-1B37-AD94-ADD3401BE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AA288-C9D9-3A4E-C34C-8A52B305F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6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B082-D2E8-C71E-9376-FE6A2F23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C9112-1665-F26E-4AEE-F3902498D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A5EA2-E68A-441E-093D-0C2A2869D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83FBC-BEB2-6BD2-751B-4AB520DD7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75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0C20-85C6-CDC0-A836-7BA23DF1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E0ACE-A31A-2349-8A1C-8E0AAA8D7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A35F8-7065-9057-BBA0-6040850C5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1EADE-E01D-F131-53C4-452C57883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0705B-2D03-4785-B2C1-505A1AAB1F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30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9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0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6689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9058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600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4049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6193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7934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3241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3093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4092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18/05/26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8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4DCF-4EC8-4535-B83B-29419115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02669"/>
            <a:ext cx="7886700" cy="145266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Smoothing experimental data</a:t>
            </a:r>
            <a:endParaRPr lang="en-US" sz="1600" dirty="0">
              <a:latin typeface="Source Sans 3" panose="020B0303030403020204" pitchFamily="34" charset="0"/>
              <a:ea typeface="Source Sans Pro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E1049-2B8F-4CDA-9154-0EB219806E56}"/>
              </a:ext>
            </a:extLst>
          </p:cNvPr>
          <p:cNvSpPr txBox="1"/>
          <p:nvPr/>
        </p:nvSpPr>
        <p:spPr>
          <a:xfrm>
            <a:off x="7831000" y="6402919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 Light" panose="020B0403030403020204" pitchFamily="34" charset="0"/>
              </a:rPr>
              <a:t>May 4,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C7F0C-3989-F071-08D6-8CABC5FD4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7863"/>
            <a:ext cx="1349886" cy="1080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151AF8-A7BF-622E-6632-2E68CEFCD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761" y="5959626"/>
            <a:ext cx="1596787" cy="62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BD2E-0C69-7E12-451B-6D31C2DB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15869-1735-64DE-08CC-C710E010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1E82DE7-CA4A-F11D-522C-B13EACA433B2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Overview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179503-4D09-F4B1-116D-3F9153ECF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When (not) to smooth your data?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Know your noise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Different smoothers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Window methods: Convolution, Savitzky Golay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Total variation methods (e.g. Whitaker-Eilers)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83525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D8D9-1F7C-14DD-37D7-DE611A3E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3C0C5-3194-F852-B53C-536CC0B1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04CAA93-988C-B31C-99D5-52DE0FB19484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When (not) to smooth your data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B8B977-23B6-2C3E-892A-A6A6B5628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NO: 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direct interpretation or fitting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You may miss features because of (excessive) smoothing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You may see features that are not there because of smoothing of an outlier</a:t>
            </a: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YES: 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Further transformation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Fourier transformation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Derivative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Presentation?</a:t>
            </a: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Would you smooth these XRD spectra?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93E20-5273-28EA-AFB9-CE45D783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242" y="4076436"/>
            <a:ext cx="4635939" cy="278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EAA5B-5212-C613-4EC5-5FD4EC70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6E3A-5CB5-6E76-DF7A-DAD5679B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69DFDA1-2B2B-078B-288E-A98383968BC3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Know your noise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D6B94F-7DBA-D5E3-CA6B-D3914864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Gaussian noise: </a:t>
            </a: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additive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observation = signal + noise(standard deviation)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Poisson noise </a:t>
            </a: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(counts)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applied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  <a:sym typeface="Wingdings" panose="05000000000000000000" pitchFamily="2" charset="2"/>
              </a:rPr>
              <a:t>Observation = noise(signal)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  <a:sym typeface="Wingdings" panose="05000000000000000000" pitchFamily="2" charset="2"/>
              </a:rPr>
              <a:t>Low counts: low noise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  <a:sym typeface="Wingdings" panose="05000000000000000000" pitchFamily="2" charset="2"/>
              </a:rPr>
              <a:t>High counts: higher noise (but lower fraction!)</a:t>
            </a: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Converges to gaussian noise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Effect of binning / integrating longer!!</a:t>
            </a:r>
          </a:p>
        </p:txBody>
      </p:sp>
    </p:spTree>
    <p:extLst>
      <p:ext uri="{BB962C8B-B14F-4D97-AF65-F5344CB8AC3E}">
        <p14:creationId xmlns:p14="http://schemas.microsoft.com/office/powerpoint/2010/main" val="341249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5DAC-A53E-10C4-0DC0-0BD923DF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312F4-19DD-8105-2679-2FF992F5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4B7F318-5BD8-C2F1-F325-235067865E30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Convolution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D690E1-4122-801F-A799-2A2710AC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First answer of ChatGPT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03B80-6AFD-35FB-2D0A-8F710B0681EA}"/>
              </a:ext>
            </a:extLst>
          </p:cNvPr>
          <p:cNvSpPr txBox="1"/>
          <p:nvPr/>
        </p:nvSpPr>
        <p:spPr>
          <a:xfrm>
            <a:off x="730113" y="2223790"/>
            <a:ext cx="7934266" cy="117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moving_average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np.convolve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(y,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np.ones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'valid'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moving_average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(y,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x_smooth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x[: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  </a:t>
            </a:r>
            <a:r>
              <a:rPr lang="en-US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adjust x accordingly</a:t>
            </a: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35767-474F-7D5F-C3B5-A4F09B769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261" y="451195"/>
            <a:ext cx="5088148" cy="16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0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A5DC-4222-1B82-4E5D-34079A3C0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154C5-6394-780F-A1D1-B81B92EC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3A4C6F3-1CEC-EDBB-2669-373168B1740C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Convolution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0CEF03-0F28-D513-8210-56148CDFC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033" y="1253527"/>
            <a:ext cx="5239347" cy="52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8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6127-E6E0-CA46-6DE2-FBD4A5BE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2C41D-4051-9F0E-1D94-EA309297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DD4B969-7128-9435-D205-1F68DA1F46ED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Convolution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047FBF-E64C-C608-1CE3-1ECF36E9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First answer of ChatGPT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1F2C3-BFD8-76D6-A34D-9ABA881874A1}"/>
              </a:ext>
            </a:extLst>
          </p:cNvPr>
          <p:cNvSpPr txBox="1"/>
          <p:nvPr/>
        </p:nvSpPr>
        <p:spPr>
          <a:xfrm>
            <a:off x="730113" y="2223790"/>
            <a:ext cx="7934266" cy="117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moving_average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np.convolve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(y,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np.ones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'valid'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moving_average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(y,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x_smooth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x[: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y_smooth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  </a:t>
            </a:r>
            <a:r>
              <a:rPr lang="en-US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adjust x accordingly</a:t>
            </a: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7F7F1-ADCC-E13A-BF07-286833648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08" y="3749668"/>
            <a:ext cx="1828804" cy="2743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AE35A8-3F18-D28C-FEFE-14B8D6564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47" y="3749668"/>
            <a:ext cx="4572009" cy="2743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8195D-7D9A-DA28-53E1-A451EDAC0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5261" y="451195"/>
            <a:ext cx="5088148" cy="161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0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99F9-8200-FCAE-94F3-F844E6DD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0B5C-E345-D184-E1E7-AAB2C954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9D32F7B-AD18-D159-50E7-3113D12E5084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Convolution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97FEE6-7FA5-71D7-2D95-96216E1B3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First answer of ChatGPT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Benefits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simple, same number of points (?)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Problems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edges, window size estimation, shifting (?)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Other suggestions in the answer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Savitzky-Golay (also window method: next slide)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Gaussian smoothing (also convolution!)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Locally weighted regression (I didn’t know this one…)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Other thought: </a:t>
            </a: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binning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 (from ~ 3000 points to about 1000 points)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As long as features are larger than 1 point, this seems like a legit method…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The statistics are more transparent (in case you want that)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240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A5B9-C0DE-3AEB-C2E6-0446F0D7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ABF5B-3C85-8366-9748-744B14B0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9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C53BCE7-E2DA-609B-E89F-20844947385E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Savitzky - Golay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3FD3C1-AEA3-AD27-D3E6-0F7EF410D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3987822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Instead of taking the average</a:t>
            </a:r>
            <a:b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</a:b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of points in window, </a:t>
            </a:r>
            <a:b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</a:b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fit a polynomial.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Benefits</a:t>
            </a: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very commonly used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Problems?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window size estimation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degree of polynomial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Computationally intensive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E21A6-B75A-126A-0500-3410FB726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484" y="1051887"/>
            <a:ext cx="5246681" cy="524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7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4C23-1434-CE2B-1DBC-31AE8FFD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5211D-F8A3-9D46-36FE-38232475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10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F68F7DC-3F90-3FCC-A66F-B58F622FA6C4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Total Variation methods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73C0F2-1556-4458-7AB7-BEE30AF30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Underlying idea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Noise is statistically independent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Signal will be correlated with its neighbors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Allow for ‘sharp edges’ ( = ‘preservation of peaks’)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Our brain does this automagically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Observation(x) = signal(x) + noise(standard deviation)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Note</a:t>
            </a: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periodic noise!!!</a:t>
            </a: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7105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CFA4-5661-88B4-F698-7617C3B9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50A1C-F421-68ED-6CDD-C3AECB48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11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37D40F1-9250-8C5B-DFA2-2FA2B0003DEB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Total Variation methods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E59C4A-807F-C32C-6DCD-5D17CD42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For images: you want to </a:t>
            </a:r>
            <a:r>
              <a:rPr lang="en-US" sz="1800" b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preserve edges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1992: Post cold-war, declassified!</a:t>
            </a: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50B2C-58BB-1579-06D2-C57FFAD40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819" y="294007"/>
            <a:ext cx="4900853" cy="86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821C33-10DB-C81D-DEC0-D3808279B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855" y="2580987"/>
            <a:ext cx="4091553" cy="4100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3F3533-0764-4E14-8B21-316ADA7A9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60" y="2569656"/>
            <a:ext cx="4298945" cy="419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9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F757-9190-74EB-19BB-2FAFEE7D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6DDBA-5226-CD21-5145-979BEBC5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12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2CD3069-2D82-A896-4291-4B0EC5E90095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Total Variation 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C42ABC-8D72-F758-E007-3B46396E2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819" y="294007"/>
            <a:ext cx="4900853" cy="860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3D216E-B28F-2C8C-F62F-CB4EAA4B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447" y="2151952"/>
            <a:ext cx="3697357" cy="1277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BC409E-2951-62A8-8032-A206F79B5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819" y="3666313"/>
            <a:ext cx="3943351" cy="2690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59E1F8-D214-2249-2A6D-4DABCCDD5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70" y="1749016"/>
            <a:ext cx="3610180" cy="167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0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D76B-1437-469E-0B2E-EDB73F35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8F9B-A005-25E6-3402-D77B39C4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13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3CE2F54-1E35-4B66-E9EA-6E52B2F3963C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Whittaker-Eilers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B7B94-B47C-AA1D-285A-F35674134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517" y="232861"/>
            <a:ext cx="2950784" cy="913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F2D20C-9B7A-C13D-FF1C-1B7490FB3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83" y="4503252"/>
            <a:ext cx="4306327" cy="19040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04A5FB-29FF-5F10-A4F4-106FE6CD1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1431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Apparently, Whittaker had this idea (‘total variation regularization’) earlier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Extended by Eilers in 2004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Here: matrix formalism for fast computation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D9D8C3-FA43-D12D-ACCD-D85A05B6C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2" y="2894352"/>
            <a:ext cx="6253133" cy="14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4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8C57-CA5D-2C96-7AC9-11B76E78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EBD7B-CE92-B5EF-0EAD-6A85C13D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14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8853240-86FF-B43A-14A9-3367FE924B1F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Whittaker</a:t>
            </a:r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-Eilers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BB52F3-F9FB-1B93-0ECF-B4AE07AE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155" y="4138938"/>
            <a:ext cx="3689370" cy="5409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Note</a:t>
            </a: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single point derivative, can also take multipoint derivative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C6FD6-64E3-E928-480B-803294304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9" y="2159870"/>
            <a:ext cx="4198721" cy="277622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F3BC54E-B4E2-46FB-680E-12CECC715718}"/>
              </a:ext>
            </a:extLst>
          </p:cNvPr>
          <p:cNvGrpSpPr/>
          <p:nvPr/>
        </p:nvGrpSpPr>
        <p:grpSpPr>
          <a:xfrm>
            <a:off x="628649" y="1470218"/>
            <a:ext cx="3985164" cy="648237"/>
            <a:chOff x="628649" y="1470218"/>
            <a:chExt cx="3985164" cy="64823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DB07E3B-AB2C-05B6-9621-B0BC5F38A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49" y="1470218"/>
              <a:ext cx="3911331" cy="596824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4BBFF1-0879-B222-7EF4-2E6F109B2B37}"/>
                </a:ext>
              </a:extLst>
            </p:cNvPr>
            <p:cNvSpPr/>
            <p:nvPr/>
          </p:nvSpPr>
          <p:spPr>
            <a:xfrm>
              <a:off x="3845024" y="1908313"/>
              <a:ext cx="768789" cy="2101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CF0AB22-A854-6E32-1E2B-F4452097DDA5}"/>
              </a:ext>
            </a:extLst>
          </p:cNvPr>
          <p:cNvSpPr txBox="1">
            <a:spLocks/>
          </p:cNvSpPr>
          <p:nvPr/>
        </p:nvSpPr>
        <p:spPr>
          <a:xfrm>
            <a:off x="4949155" y="2820346"/>
            <a:ext cx="3689370" cy="540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Note</a:t>
            </a: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</a:t>
            </a:r>
            <a:r>
              <a:rPr lang="en-US" sz="1400" i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parameter</a:t>
            </a: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 lambda</a:t>
            </a:r>
          </a:p>
        </p:txBody>
      </p:sp>
    </p:spTree>
    <p:extLst>
      <p:ext uri="{BB962C8B-B14F-4D97-AF65-F5344CB8AC3E}">
        <p14:creationId xmlns:p14="http://schemas.microsoft.com/office/powerpoint/2010/main" val="908794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4951-AECB-0A75-DAAE-68DCB42D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DA6A7-1DAA-B8B1-B91C-439285D4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15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2E21C63-ECFB-1583-8842-B7BE4934F748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Whittaker-</a:t>
            </a:r>
            <a:r>
              <a:rPr lang="en-US" sz="2800" b="1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Eilers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96D5EF7-F52C-5308-B097-50EB3E03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4674231"/>
            <a:ext cx="4715763" cy="1638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Note</a:t>
            </a: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this is a way to objective determine the value lambda!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The paper then goes into some depth about how to </a:t>
            </a:r>
            <a:r>
              <a:rPr lang="en-US" sz="1400" i="1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efficiently</a:t>
            </a: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 calculate S</a:t>
            </a:r>
            <a:r>
              <a:rPr lang="en-US" sz="1400" baseline="-250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CV </a:t>
            </a: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A5644-0444-6BB7-9A48-EACF0AB0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99" y="1454313"/>
            <a:ext cx="4300634" cy="240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0A0D51-A474-A8F3-FA05-3352EC862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220" y="1652526"/>
            <a:ext cx="3751764" cy="441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57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C51B-2700-D0E6-C7DA-40F0ED1D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32410-570A-4E83-B381-427B3613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16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F7EC8A4-25B4-C5E0-6091-B092072EED7F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Whittaker-Eilers on our datasets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4AAD2-1B11-AF8D-1BA3-BC1522600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767" y="1492427"/>
            <a:ext cx="3376944" cy="2026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D1A602-D498-0B06-9968-E953A037B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39784"/>
            <a:ext cx="4109084" cy="2465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74A314-B16F-C0DC-8A20-7A310EBA6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28" y="1396989"/>
            <a:ext cx="3536007" cy="21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9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4ED0-74BB-B0F8-2E70-78237C1C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7AA7-9E65-614D-3F12-434C432C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17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1A87D99-7AE8-057A-161C-4403BBCFB6E9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Whittaker-Eilers on our datasets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A9429-64DB-7763-0A51-2F7DCF45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63" y="1235065"/>
            <a:ext cx="4572009" cy="54864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A63F8C-4535-BE4F-29A2-2C48E486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29" y="2139753"/>
            <a:ext cx="2672738" cy="15462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Note</a:t>
            </a:r>
            <a:r>
              <a:rPr lang="en-US" sz="16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: NO parameters,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objective smoother…</a:t>
            </a:r>
          </a:p>
        </p:txBody>
      </p:sp>
    </p:spTree>
    <p:extLst>
      <p:ext uri="{BB962C8B-B14F-4D97-AF65-F5344CB8AC3E}">
        <p14:creationId xmlns:p14="http://schemas.microsoft.com/office/powerpoint/2010/main" val="333487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9E4B-0A9A-1E88-F2B2-29F8E98D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2CE1C-2CC4-DF75-71ED-5F5AB0C8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18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2252E34-862F-BEE9-5FC1-8732D0191603}"/>
              </a:ext>
            </a:extLst>
          </p:cNvPr>
          <p:cNvSpPr txBox="1">
            <a:spLocks/>
          </p:cNvSpPr>
          <p:nvPr/>
        </p:nvSpPr>
        <p:spPr>
          <a:xfrm>
            <a:off x="628649" y="359447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Bonus: Chartrand</a:t>
            </a:r>
            <a:endParaRPr lang="en-US" sz="2800" b="1" dirty="0">
              <a:solidFill>
                <a:srgbClr val="1E64C8"/>
              </a:solidFill>
              <a:latin typeface="Source Sans 3" panose="020B0303030403020204" pitchFamily="34" charset="0"/>
              <a:ea typeface="Source Sans Pro"/>
              <a:cs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681F2-7B59-55F2-A5FC-9FD742EE9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781" y="359447"/>
            <a:ext cx="5150707" cy="1832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A8EC91-B0A3-24DE-9442-028FC1310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2" y="5018887"/>
            <a:ext cx="7076662" cy="13374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A8FE8-7A44-1892-7587-14ED0BD40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44" y="2784773"/>
            <a:ext cx="6809409" cy="2234114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5EFE19D-BCEA-69D2-8A8B-1DE92F01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689" y="3230355"/>
            <a:ext cx="1681131" cy="312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u is the derivative of noisy signal f you want to compute.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chemeClr val="accent1"/>
              </a:solidFill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chemeClr val="accent1"/>
              </a:solidFill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chemeClr val="accent1"/>
              </a:solidFill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chemeClr val="accent1"/>
              </a:solidFill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1"/>
                </a:solidFill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So you use the integral Au and the derivative u’ of u</a:t>
            </a:r>
          </a:p>
        </p:txBody>
      </p:sp>
    </p:spTree>
    <p:extLst>
      <p:ext uri="{BB962C8B-B14F-4D97-AF65-F5344CB8AC3E}">
        <p14:creationId xmlns:p14="http://schemas.microsoft.com/office/powerpoint/2010/main" val="1897495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DB59-6002-FEFF-AD04-E70ABE7C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C14B-2A27-9398-5AA8-0E556963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19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39A9045-8126-DB17-DCD0-07E99770F760}"/>
              </a:ext>
            </a:extLst>
          </p:cNvPr>
          <p:cNvSpPr txBox="1">
            <a:spLocks/>
          </p:cNvSpPr>
          <p:nvPr/>
        </p:nvSpPr>
        <p:spPr>
          <a:xfrm>
            <a:off x="628649" y="365126"/>
            <a:ext cx="8184759" cy="69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1E64C8"/>
                </a:solidFill>
                <a:latin typeface="Source Sans 3" panose="020B0303030403020204" pitchFamily="34" charset="0"/>
                <a:ea typeface="Source Sans Pro"/>
                <a:cs typeface="Calibri Light"/>
              </a:rPr>
              <a:t>Discussion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826F95-CB23-28EA-0099-BC54B5D6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32" y="1351128"/>
            <a:ext cx="7863018" cy="5043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Experiences with smoothing?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Other metrics beyond ‘visually pleasing’?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In which situations?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Other methods?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Would you smooth?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SEM images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XRD spectra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>
                <a:latin typeface="Source Sans 3" panose="020B0303030403020204" pitchFamily="34" charset="0"/>
                <a:ea typeface="Source Sans Pro"/>
                <a:cs typeface="Calibri" panose="020F0502020204030204"/>
              </a:rPr>
              <a:t>FTIR spectra</a:t>
            </a:r>
            <a:endParaRPr lang="en-US" sz="18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>
              <a:latin typeface="Source Sans 3" panose="020B0303030403020204" pitchFamily="34" charset="0"/>
              <a:ea typeface="Source Sans Pro"/>
              <a:cs typeface="Calibri" panose="020F0502020204030204"/>
            </a:endParaRPr>
          </a:p>
        </p:txBody>
      </p:sp>
      <p:pic>
        <p:nvPicPr>
          <p:cNvPr id="1026" name="Picture 2" descr="YARN | No. I'm not falling for any more of your smooth talk! | Over the  Hedge | Video gifs by quotes | e102fc38 | 紗">
            <a:extLst>
              <a:ext uri="{FF2B5EF4-FFF2-40B4-BE49-F238E27FC236}">
                <a16:creationId xmlns:a16="http://schemas.microsoft.com/office/drawing/2014/main" id="{6D2DC5BC-BE65-926D-233F-D1C822EB5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223" y="4085463"/>
            <a:ext cx="381000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52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re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8C151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19703</TotalTime>
  <Words>683</Words>
  <Application>Microsoft Office PowerPoint</Application>
  <PresentationFormat>On-screen Show (4:3)</PresentationFormat>
  <Paragraphs>154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Source Sans 3</vt:lpstr>
      <vt:lpstr>Calibri Light</vt:lpstr>
      <vt:lpstr>Arial</vt:lpstr>
      <vt:lpstr>Consolas</vt:lpstr>
      <vt:lpstr>Source Sans Pro Light</vt:lpstr>
      <vt:lpstr>Office Theme</vt:lpstr>
      <vt:lpstr>Smoothing experimental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Andreas</dc:creator>
  <cp:lastModifiedBy>Andreas Werbrouck</cp:lastModifiedBy>
  <cp:revision>404</cp:revision>
  <dcterms:created xsi:type="dcterms:W3CDTF">2021-10-06T19:50:10Z</dcterms:created>
  <dcterms:modified xsi:type="dcterms:W3CDTF">2026-05-18T09:39:04Z</dcterms:modified>
</cp:coreProperties>
</file>